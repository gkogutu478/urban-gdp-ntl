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2B4E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2B4E"/>
                </a:solidFill>
                <a:latin typeface="Arial"/>
              </a:rPr>
              <a:t>Top feature importances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(%)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B9CC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B9CC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log_area</c:v>
                  </c:pt>
                  <c:pt idx="1">
                    <c:v>built_growth</c:v>
                  </c:pt>
                  <c:pt idx="2">
                    <c:v>area_km2</c:v>
                  </c:pt>
                  <c:pt idx="3">
                    <c:v>ntl×built</c:v>
                  </c:pt>
                  <c:pt idx="4">
                    <c:v>ntl×log_pop</c:v>
                  </c:pt>
                  <c:pt idx="5">
                    <c:v>log_pop</c:v>
                  </c:pt>
                  <c:pt idx="6">
                    <c:v>iso3_enc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23.7</c:v>
                </c:pt>
                <c:pt idx="1">
                  <c:v>23.5</c:v>
                </c:pt>
                <c:pt idx="2">
                  <c:v>21.1</c:v>
                </c:pt>
                <c:pt idx="3">
                  <c:v>6.8</c:v>
                </c:pt>
                <c:pt idx="4">
                  <c:v>3.3</c:v>
                </c:pt>
                <c:pt idx="5">
                  <c:v>3</c:v>
                </c:pt>
                <c:pt idx="6">
                  <c:v>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2B4E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2B4E"/>
                </a:solidFill>
                <a:latin typeface="Arial"/>
              </a:rPr>
              <a:t>Mean urban GDP share by world region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urban GDP share (%)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B9CC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2B4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Asia</c:v>
                  </c:pt>
                  <c:pt idx="1">
                    <c:v>Lat. America</c:v>
                  </c:pt>
                  <c:pt idx="2">
                    <c:v>Africa</c:v>
                  </c:pt>
                  <c:pt idx="3">
                    <c:v>N. America</c:v>
                  </c:pt>
                  <c:pt idx="4">
                    <c:v>Europe</c:v>
                  </c:pt>
                  <c:pt idx="5">
                    <c:v>Oceania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75.6</c:v>
                </c:pt>
                <c:pt idx="1">
                  <c:v>73.8</c:v>
                </c:pt>
                <c:pt idx="2">
                  <c:v>53.5</c:v>
                </c:pt>
                <c:pt idx="3">
                  <c:v>32.4</c:v>
                </c:pt>
                <c:pt idx="4">
                  <c:v>31.7</c:v>
                </c:pt>
                <c:pt idx="5">
                  <c:v>23.1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Urban GDP share (%)</c:v>
                </c:pt>
              </c:strCache>
            </c:strRef>
          </c:tx>
          <c:spPr>
            <a:solidFill>
              <a:srgbClr val="3B9C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9C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9C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9C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05B4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05B4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05B4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05B4B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E05B4B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E05B4B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Finland</c:v>
                  </c:pt>
                  <c:pt idx="1">
                    <c:v>Germany</c:v>
                  </c:pt>
                  <c:pt idx="2">
                    <c:v>France</c:v>
                  </c:pt>
                  <c:pt idx="3">
                    <c:v>Ethiopia</c:v>
                  </c:pt>
                  <c:pt idx="4">
                    <c:v>Kenya</c:v>
                  </c:pt>
                  <c:pt idx="5">
                    <c:v>S. Africa</c:v>
                  </c:pt>
                  <c:pt idx="6">
                    <c:v>Tanzania</c:v>
                  </c:pt>
                  <c:pt idx="7">
                    <c:v>Nigeria</c:v>
                  </c:pt>
                  <c:pt idx="8">
                    <c:v>Thailand</c:v>
                  </c:pt>
                  <c:pt idx="9">
                    <c:v>Philippines</c:v>
                  </c:pt>
                  <c:pt idx="10">
                    <c:v>India</c:v>
                  </c:pt>
                  <c:pt idx="11">
                    <c:v>Brazil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9.9</c:v>
                </c:pt>
                <c:pt idx="1">
                  <c:v>17.8</c:v>
                </c:pt>
                <c:pt idx="2">
                  <c:v>24.6</c:v>
                </c:pt>
                <c:pt idx="3">
                  <c:v>38.1</c:v>
                </c:pt>
                <c:pt idx="4">
                  <c:v>47.5</c:v>
                </c:pt>
                <c:pt idx="5">
                  <c:v>60.4</c:v>
                </c:pt>
                <c:pt idx="6">
                  <c:v>64.8</c:v>
                </c:pt>
                <c:pt idx="7">
                  <c:v>94</c:v>
                </c:pt>
                <c:pt idx="8">
                  <c:v>82.7</c:v>
                </c:pt>
                <c:pt idx="9">
                  <c:v>85.5</c:v>
                </c:pt>
                <c:pt idx="10">
                  <c:v>98</c:v>
                </c:pt>
                <c:pt idx="11">
                  <c:v>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GDP (bn USD)</c:v>
                </c:pt>
              </c:strCache>
            </c:strRef>
          </c:tx>
          <c:spPr>
            <a:solidFill>
              <a:srgbClr val="E05B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5B4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5B4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5B4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2B4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2B4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05B4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05B4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05B4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05B4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E05B4B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3B9CC4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E05B4B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3B9CC4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E05B4B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0D2B4E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E05B4B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3B9CC4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E05B4B"/>
              </a:solidFill>
              <a:effectLst/>
            </c:spPr>
          </c:dPt>
          <c:cat>
            <c:multiLvlStrRef>
              <c:f>Sheet1!$A$2:$A$21</c:f>
              <c:multiLvlStrCache>
                <c:ptCount val="20"/>
                <c:lvl>
                  <c:pt idx="0">
                    <c:v>Tokyo</c:v>
                  </c:pt>
                  <c:pt idx="1">
                    <c:v>Osaka</c:v>
                  </c:pt>
                  <c:pt idx="2">
                    <c:v>Seoul</c:v>
                  </c:pt>
                  <c:pt idx="3">
                    <c:v>New York</c:v>
                  </c:pt>
                  <c:pt idx="4">
                    <c:v>L.A.</c:v>
                  </c:pt>
                  <c:pt idx="5">
                    <c:v>Shanghai</c:v>
                  </c:pt>
                  <c:pt idx="6">
                    <c:v>Guangzhou</c:v>
                  </c:pt>
                  <c:pt idx="7">
                    <c:v>Beijing</c:v>
                  </c:pt>
                  <c:pt idx="8">
                    <c:v>Bangkok</c:v>
                  </c:pt>
                  <c:pt idx="9">
                    <c:v>Mexico City</c:v>
                  </c:pt>
                  <c:pt idx="10">
                    <c:v>São Paulo</c:v>
                  </c:pt>
                  <c:pt idx="11">
                    <c:v>Singapore</c:v>
                  </c:pt>
                  <c:pt idx="12">
                    <c:v>Paris</c:v>
                  </c:pt>
                  <c:pt idx="13">
                    <c:v>Taipei</c:v>
                  </c:pt>
                  <c:pt idx="14">
                    <c:v>Moscow</c:v>
                  </c:pt>
                  <c:pt idx="15">
                    <c:v>Istanbul</c:v>
                  </c:pt>
                  <c:pt idx="16">
                    <c:v>Chicago</c:v>
                  </c:pt>
                  <c:pt idx="17">
                    <c:v>Jakarta</c:v>
                  </c:pt>
                  <c:pt idx="18">
                    <c:v>London</c:v>
                  </c:pt>
                  <c:pt idx="19">
                    <c:v>Delhi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757</c:v>
                </c:pt>
                <c:pt idx="1">
                  <c:v>672</c:v>
                </c:pt>
                <c:pt idx="2">
                  <c:v>577</c:v>
                </c:pt>
                <c:pt idx="3">
                  <c:v>561</c:v>
                </c:pt>
                <c:pt idx="4">
                  <c:v>544</c:v>
                </c:pt>
                <c:pt idx="5">
                  <c:v>515</c:v>
                </c:pt>
                <c:pt idx="6">
                  <c:v>423</c:v>
                </c:pt>
                <c:pt idx="7">
                  <c:v>421</c:v>
                </c:pt>
                <c:pt idx="8">
                  <c:v>412</c:v>
                </c:pt>
                <c:pt idx="9">
                  <c:v>399</c:v>
                </c:pt>
                <c:pt idx="10">
                  <c:v>344</c:v>
                </c:pt>
                <c:pt idx="11">
                  <c:v>333</c:v>
                </c:pt>
                <c:pt idx="12">
                  <c:v>330</c:v>
                </c:pt>
                <c:pt idx="13">
                  <c:v>325</c:v>
                </c:pt>
                <c:pt idx="14">
                  <c:v>324</c:v>
                </c:pt>
                <c:pt idx="15">
                  <c:v>302</c:v>
                </c:pt>
                <c:pt idx="16">
                  <c:v>297</c:v>
                </c:pt>
                <c:pt idx="17">
                  <c:v>294</c:v>
                </c:pt>
                <c:pt idx="18">
                  <c:v>269</c:v>
                </c:pt>
                <c:pt idx="19">
                  <c:v>265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2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Urban GDP share (%)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E05B4B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cat>
            <c:multiLvlStrRef>
              <c:f>Sheet1!$A$2:$A$19</c:f>
              <c:multiLvlStrCache>
                <c:ptCount val="18"/>
                <c:lvl>
                  <c:pt idx="0">
                    <c:v>Eritrea</c:v>
                  </c:pt>
                  <c:pt idx="1">
                    <c:v>Somalia</c:v>
                  </c:pt>
                  <c:pt idx="2">
                    <c:v>Rwanda</c:v>
                  </c:pt>
                  <c:pt idx="3">
                    <c:v>Uganda</c:v>
                  </c:pt>
                  <c:pt idx="4">
                    <c:v>Malawi</c:v>
                  </c:pt>
                  <c:pt idx="5">
                    <c:v>Zimbabwe</c:v>
                  </c:pt>
                  <c:pt idx="6">
                    <c:v>Botswana</c:v>
                  </c:pt>
                  <c:pt idx="7">
                    <c:v>Madagascar</c:v>
                  </c:pt>
                  <c:pt idx="8">
                    <c:v>Djibouti</c:v>
                  </c:pt>
                  <c:pt idx="9">
                    <c:v>Ethiopia</c:v>
                  </c:pt>
                  <c:pt idx="10">
                    <c:v>DRC</c:v>
                  </c:pt>
                  <c:pt idx="11">
                    <c:v>Kenya</c:v>
                  </c:pt>
                  <c:pt idx="12">
                    <c:v>S. Africa</c:v>
                  </c:pt>
                  <c:pt idx="13">
                    <c:v>Tanzania</c:v>
                  </c:pt>
                  <c:pt idx="14">
                    <c:v>Mozambique</c:v>
                  </c:pt>
                  <c:pt idx="15">
                    <c:v>S. Sudan</c:v>
                  </c:pt>
                  <c:pt idx="16">
                    <c:v>Zambia</c:v>
                  </c:pt>
                  <c:pt idx="17">
                    <c:v>Angola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10.4</c:v>
                </c:pt>
                <c:pt idx="1">
                  <c:v>14.1</c:v>
                </c:pt>
                <c:pt idx="2">
                  <c:v>19.9</c:v>
                </c:pt>
                <c:pt idx="3">
                  <c:v>22.5</c:v>
                </c:pt>
                <c:pt idx="4">
                  <c:v>23.2</c:v>
                </c:pt>
                <c:pt idx="5">
                  <c:v>31.1</c:v>
                </c:pt>
                <c:pt idx="6">
                  <c:v>25.7</c:v>
                </c:pt>
                <c:pt idx="7">
                  <c:v>27.2</c:v>
                </c:pt>
                <c:pt idx="8">
                  <c:v>32.1</c:v>
                </c:pt>
                <c:pt idx="9">
                  <c:v>38.1</c:v>
                </c:pt>
                <c:pt idx="10">
                  <c:v>40.1</c:v>
                </c:pt>
                <c:pt idx="11">
                  <c:v>47.5</c:v>
                </c:pt>
                <c:pt idx="12">
                  <c:v>60.4</c:v>
                </c:pt>
                <c:pt idx="13">
                  <c:v>64.8</c:v>
                </c:pt>
                <c:pt idx="14">
                  <c:v>75.7</c:v>
                </c:pt>
                <c:pt idx="15">
                  <c:v>98</c:v>
                </c:pt>
                <c:pt idx="16">
                  <c:v>98</c:v>
                </c:pt>
                <c:pt idx="17">
                  <c:v>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UN-Habitat Data &amp; Analytics team. This presentation summarises a global analysis covering 170 countries and 12,818 cities, estimating how much of each country's GDP is generated within its urban centres.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 is simple: we need city-level GDP to make planning decisions, but most countries don't publish it. Satellite nighttime lights solve this by giving a consistent global signal, updated every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of the six datasets require no login or payment. The VIIRS annual composite requires a free EOG account as of 2025. All data are open-licensed and citable with DOIs.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has five stages. The most important design choice is using GDP15_SM from the UCDB as the training target, which means we are training on real observed city GDP rather than raw NTL — avoiding the circular calibration problem that affects many NTL-GDP methods.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leakage prevention step is the most critical methodological safeguard. Previous NTL-GDP models often include lit-population as a feature, which is a direct GDP proxy — that inflates apparent R² without improving generalisability.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CV R² of 0.789 means the model explains ~79% of city GDP variance using only observable satellite features. Nigeria's lower R² of 0.68 reflects the informal economy and gas flare contamination — both known NTL limitations in Sub-Saharan Africa.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56.7% global mean aligns with UN-Habitat estimates and established economic geography theory. The wide standard deviation (30.6%) reflects genuine structural differences — not measurement noise — making a single global figure insufficient for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contrast between Germany and Nigeria illustrates the economic geography divide — polycentric high-income economies vs primate-city-dominated lower-income ones. Kenya sits mid-range, below Tanzania but above Uganda and Ethiopia.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GDP-based ranking and population-based ranking diverge significantly. Tokyo and Osaka are both economic giants by GDP but their populations are much lower than Jakarta (rank 18 in GDP). GDP-ranked primacy better reflects functional economic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Tokyo's $757 billion GDP exceeds the total national GDP of most African countries. This concentration reflects agglomeration economies — productivity rises non-linearly with city size. The absence of any African city in the top 20 is a development gap, not a measurement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Kenya's 47.5% is about 6 points below the African mean and 9 points below the global mean. Nairobi alone generates more than double Mombasa's share — a classic primate city pattern within an already urban-concentrated economy.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method is designed to be good enough for strategic allocation, SDG monitoring, and risk finance — not to replace official statistics. Its key advantage is coverage: 170 countries in one framework, updated annually.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precise framing on 11.a.1 is important — UN-Habitat colleagues will notice and appreciate the distinction. The three sub-criteria for a quality national urban policy are: population dynamics responsiveness, balanced territorial development, and implementation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scripts, data download instructions, and output files are open-source. The only dataset requiring a registration is VIIRS from the EOG server — a free account that takes 2 minutes to create.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extensions move this from a one-off research output to an operational UN-Habitat product. The time series is technically straightforward — the model is already trained. The NSO co-design is the highest-value step for legitimacy and country ownership.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inviting questions. Key takeaway: a globally consistent, annually updatable urban GDP baseline is now available for 170 countries — open-source, no census required, applicable to any country within 24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457200"/>
            <a:ext cx="2743200" cy="2743200"/>
          </a:xfrm>
          <a:prstGeom prst="ellipse">
            <a:avLst/>
          </a:prstGeom>
          <a:solidFill>
            <a:srgbClr val="1D9E9D">
              <a:alpha val="18000"/>
            </a:srgbClr>
          </a:solidFill>
          <a:ln w="15240">
            <a:solidFill>
              <a:srgbClr val="0E7C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46520" y="777240"/>
            <a:ext cx="2103120" cy="2103120"/>
          </a:xfrm>
          <a:prstGeom prst="ellipse">
            <a:avLst/>
          </a:prstGeom>
          <a:solidFill>
            <a:srgbClr val="1D9E9D">
              <a:alpha val="30000"/>
            </a:srgbClr>
          </a:solidFill>
          <a:ln w="1016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NTL · GDP · GIS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the Contribution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Cities to National GDP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Nighttime Lights Approach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2304288"/>
            <a:ext cx="5029200" cy="0"/>
          </a:xfrm>
          <a:prstGeom prst="line">
            <a:avLst/>
          </a:prstGeom>
          <a:noFill/>
          <a:ln w="762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50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572768" y="24505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7797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72768" y="27797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|  University of Nairobi, Dept. of Earth &amp; Climate Sciences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72768" y="3108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|  Global Urban GDP Analysis — 170 Countries, 12,818 Cities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4251960"/>
            <a:ext cx="1645920" cy="566928"/>
          </a:xfrm>
          <a:prstGeom prst="rect">
            <a:avLst/>
          </a:prstGeom>
          <a:solidFill>
            <a:srgbClr val="009EDB">
              <a:alpha val="85000"/>
            </a:srgbClr>
          </a:solidFill>
          <a:ln w="12700">
            <a:solidFill>
              <a:srgbClr val="009E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25196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 here]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Opportunity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city-level GDP matters — and why it is so hard to measure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59536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80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Urban GDP Share Estimation  |  2020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880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987552"/>
            <a:ext cx="2670048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987552"/>
            <a:ext cx="2670048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35024" y="1115568"/>
            <a:ext cx="731520" cy="731520"/>
          </a:xfrm>
          <a:prstGeom prst="ellipse">
            <a:avLst/>
          </a:prstGeom>
          <a:solidFill>
            <a:srgbClr val="0E7C7B">
              <a:alpha val="88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35024" y="1115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196596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imperative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" y="2377440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11.a.1 requires evidence on urban economic geography to design balanced territorial development policies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3776" y="3090672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generate 60–80% of global GDP on less than 3% of land (UN-Habitat, 2020)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46120" y="987552"/>
            <a:ext cx="2670048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987552"/>
            <a:ext cx="2670048" cy="54864"/>
          </a:xfrm>
          <a:prstGeom prst="rect">
            <a:avLst/>
          </a:prstGeom>
          <a:solidFill>
            <a:srgbClr val="3B9CC4"/>
          </a:solidFill>
          <a:ln w="12700">
            <a:solidFill>
              <a:srgbClr val="3B9C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15384" y="1115568"/>
            <a:ext cx="731520" cy="731520"/>
          </a:xfrm>
          <a:prstGeom prst="ellipse">
            <a:avLst/>
          </a:prstGeom>
          <a:solidFill>
            <a:srgbClr val="3B9CC4">
              <a:alpha val="88000"/>
            </a:srgbClr>
          </a:solidFill>
          <a:ln w="12700">
            <a:solidFill>
              <a:srgbClr val="3B9C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15384" y="1115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55848" y="196596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gap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74136" y="2377440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B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&gt;60% of countries publish no subnational GDP statistics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74136" y="3090672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B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 exist, methods differ — cross-country comparison is methodologically fraught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74136" y="3803904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B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surveys and census cycles take 5–10 years — too slow for real-time monitoring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987552"/>
            <a:ext cx="2670048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987552"/>
            <a:ext cx="267004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95744" y="1115568"/>
            <a:ext cx="731520" cy="731520"/>
          </a:xfrm>
          <a:prstGeom prst="ellipse">
            <a:avLst/>
          </a:prstGeom>
          <a:solidFill>
            <a:srgbClr val="F59E0B">
              <a:alpha val="8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95744" y="1115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36208" y="196596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satellite opportunity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54496" y="2377440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VIIRS DNB nighttime lights: globally consistent, 500 m, updated annually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54496" y="3090672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Henderson et al. (2012): NTL explains ~73% of regional GDP growth variance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54496" y="3803904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open-access — requires no in-country data collection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4590288"/>
            <a:ext cx="8412480" cy="292608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5902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produces a globally consistent, annually updatable urban GDP baseline requiring no census data — for 170 countries, 12,818 cities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open-access datasets — no registration or cost required for five of the six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59536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80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Urban GDP Share Estimation  |  2020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880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41605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005840"/>
            <a:ext cx="54864" cy="10789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" y="1188720"/>
            <a:ext cx="585216" cy="585216"/>
          </a:xfrm>
          <a:prstGeom prst="ellipse">
            <a:avLst/>
          </a:prstGeom>
          <a:solidFill>
            <a:srgbClr val="0E7C7B">
              <a:alpha val="82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88720" y="1078992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VIIRS DNB Annual V2.2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1389888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· ~500 m · EOG Colorado School of Mines · Measures stable nighttime radiance; cloud/aurora filtered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212848"/>
            <a:ext cx="41605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212848"/>
            <a:ext cx="54864" cy="1078992"/>
          </a:xfrm>
          <a:prstGeom prst="rect">
            <a:avLst/>
          </a:prstGeom>
          <a:solidFill>
            <a:srgbClr val="3B9CC4"/>
          </a:solidFill>
          <a:ln w="12700">
            <a:solidFill>
              <a:srgbClr val="3B9C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" y="2395728"/>
            <a:ext cx="585216" cy="585216"/>
          </a:xfrm>
          <a:prstGeom prst="ellipse">
            <a:avLst/>
          </a:prstGeom>
          <a:solidFill>
            <a:srgbClr val="3B9CC4">
              <a:alpha val="82000"/>
            </a:srgbClr>
          </a:solidFill>
          <a:ln w="12700">
            <a:solidFill>
              <a:srgbClr val="3B9C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2395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88720" y="228600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GHS-POP R2023A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2596896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epoch · 1 km · JRC European Commission · Population per grid cell; mass-conserving resampling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419856"/>
            <a:ext cx="41605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419856"/>
            <a:ext cx="54864" cy="107899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" y="3602736"/>
            <a:ext cx="585216" cy="585216"/>
          </a:xfrm>
          <a:prstGeom prst="ellipse">
            <a:avLst/>
          </a:prstGeom>
          <a:solidFill>
            <a:srgbClr val="0D2B4E">
              <a:alpha val="82000"/>
            </a:srgbClr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360273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88720" y="349300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GHS-UCDB R2019A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88720" y="3803904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13,135 urban centres · JRC · Contains pre-computed NTL, built-up, population and GDP15_SM per city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1005840"/>
            <a:ext cx="41605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1005840"/>
            <a:ext cx="54864" cy="1078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28616" y="1188720"/>
            <a:ext cx="585216" cy="585216"/>
          </a:xfrm>
          <a:prstGeom prst="ellipse">
            <a:avLst/>
          </a:prstGeom>
          <a:solidFill>
            <a:srgbClr val="16A34A">
              <a:alpha val="82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28616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23560" y="1078992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WorldCover 2021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23560" y="1389888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 · ESA Copernicus · Reclassified into 4 economic activity classes (non-economic → urban)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2212848"/>
            <a:ext cx="41605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2212848"/>
            <a:ext cx="54864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28616" y="2395728"/>
            <a:ext cx="585216" cy="585216"/>
          </a:xfrm>
          <a:prstGeom prst="ellipse">
            <a:avLst/>
          </a:prstGeom>
          <a:solidFill>
            <a:srgbClr val="F59E0B">
              <a:alpha val="8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28616" y="2395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23560" y="228600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GDP 2020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23560" y="2596896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GDP (current USD) · 170 countries · Macro-consistency anchor for city-level scaling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00600" y="3419856"/>
            <a:ext cx="41605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3419856"/>
            <a:ext cx="54864" cy="1078992"/>
          </a:xfrm>
          <a:prstGeom prst="rect">
            <a:avLst/>
          </a:prstGeom>
          <a:solidFill>
            <a:srgbClr val="E05B4B"/>
          </a:solidFill>
          <a:ln w="12700">
            <a:solidFill>
              <a:srgbClr val="E05B4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28616" y="3602736"/>
            <a:ext cx="585216" cy="585216"/>
          </a:xfrm>
          <a:prstGeom prst="ellipse">
            <a:avLst/>
          </a:prstGeom>
          <a:solidFill>
            <a:srgbClr val="E05B4B">
              <a:alpha val="82000"/>
            </a:srgbClr>
          </a:solidFill>
          <a:ln w="12700">
            <a:solidFill>
              <a:srgbClr val="E05B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28616" y="360273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23560" y="349300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GADM 4.1 Boundaries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23560" y="3803904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admin boundaries · UC Davis · Used for country-level spatial clipping and validation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Five-stage flow from open satellite data to city-level GDP estimates and urban share statistics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59536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80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Urban GDP Share Estimation  |  2020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880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7472" y="1024128"/>
            <a:ext cx="1481328" cy="17373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32104" y="1115568"/>
            <a:ext cx="512064" cy="512064"/>
          </a:xfrm>
          <a:prstGeom prst="ellipse">
            <a:avLst/>
          </a:prstGeom>
          <a:solidFill>
            <a:srgbClr val="FFFFFF">
              <a:alpha val="80000"/>
            </a:srgbClr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1115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" y="170078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31136"/>
            <a:ext cx="1261872" cy="0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286000"/>
            <a:ext cx="1481328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VIIRS · GHS-POP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UCDB · WorldCover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GDP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837944" y="1801368"/>
            <a:ext cx="201168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48256" y="1024128"/>
            <a:ext cx="1481328" cy="1737360"/>
          </a:xfrm>
          <a:prstGeom prst="rect">
            <a:avLst/>
          </a:prstGeom>
          <a:solidFill>
            <a:srgbClr val="3B9CC4"/>
          </a:solidFill>
          <a:ln w="12700">
            <a:solidFill>
              <a:srgbClr val="3B9C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32888" y="1115568"/>
            <a:ext cx="512064" cy="512064"/>
          </a:xfrm>
          <a:prstGeom prst="ellipse">
            <a:avLst/>
          </a:prstGeom>
          <a:solidFill>
            <a:srgbClr val="FFFFFF">
              <a:alpha val="80000"/>
            </a:srgbClr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32888" y="1115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48256" y="170078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57984" y="2231136"/>
            <a:ext cx="1261872" cy="0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48256" y="2286000"/>
            <a:ext cx="1481328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Reproject EPSG:4326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Cloud/aurora mask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nW threshold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538728" y="1801368"/>
            <a:ext cx="201168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0" y="1024128"/>
            <a:ext cx="1481328" cy="173736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33672" y="1115568"/>
            <a:ext cx="512064" cy="512064"/>
          </a:xfrm>
          <a:prstGeom prst="ellipse">
            <a:avLst/>
          </a:prstGeom>
          <a:solidFill>
            <a:srgbClr val="FFFFFF">
              <a:alpha val="80000"/>
            </a:srgbClr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33672" y="1115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49040" y="170078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58768" y="2231136"/>
            <a:ext cx="1261872" cy="0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2286000"/>
            <a:ext cx="1481328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features per city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NTL · built-up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growth · encoding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239512" y="1801368"/>
            <a:ext cx="201168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49824" y="1024128"/>
            <a:ext cx="1481328" cy="17373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34456" y="1115568"/>
            <a:ext cx="512064" cy="512064"/>
          </a:xfrm>
          <a:prstGeom prst="ellipse">
            <a:avLst/>
          </a:prstGeom>
          <a:solidFill>
            <a:srgbClr val="FFFFFF">
              <a:alpha val="80000"/>
            </a:srgbClr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34456" y="1115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9824" y="170078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559552" y="2231136"/>
            <a:ext cx="1261872" cy="0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9824" y="2286000"/>
            <a:ext cx="1481328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log(GDP15_SM)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trees · CV R²=0.789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GDP leakage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940296" y="1801368"/>
            <a:ext cx="201168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50608" y="1024128"/>
            <a:ext cx="148132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635240" y="1115568"/>
            <a:ext cx="512064" cy="512064"/>
          </a:xfrm>
          <a:prstGeom prst="ellipse">
            <a:avLst/>
          </a:prstGeom>
          <a:solidFill>
            <a:srgbClr val="FFFFFF">
              <a:alpha val="80000"/>
            </a:srgbClr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35240" y="1115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150608" y="170078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260336" y="2231136"/>
            <a:ext cx="1261872" cy="0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50608" y="2286000"/>
            <a:ext cx="1481328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 national anchor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GDP shares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share %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65760" y="2944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methodological decisions: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65760" y="3246120"/>
            <a:ext cx="2788920" cy="148132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3246120"/>
            <a:ext cx="278892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3375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Forest?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3685032"/>
            <a:ext cx="2606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NTL saturation · heavy-tailed GDP · ensemble outlier robustness · country fixed-effects via encoding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291840" y="3246120"/>
            <a:ext cx="2788920" cy="148132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291840" y="3246120"/>
            <a:ext cx="278892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83280" y="33375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GDP15_SM as target?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383280" y="3685032"/>
            <a:ext cx="2606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UCDB pre-computes observed city GDP — avoids circular NTL-as-target. No GDP-derived variable enters as a feature (leakage prevention).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217920" y="3246120"/>
            <a:ext cx="2788920" cy="148132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217920" y="3246120"/>
            <a:ext cx="278892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0" y="33375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proportional scaling?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09360" y="3685032"/>
            <a:ext cx="2606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sum scaled to World Bank national total ensures macro-consistency without imposing a city-level model structure on aggregate GDP.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&amp; Feature Engineering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city-level features derived from satellite and geospatial data — no GDP variables in the input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59536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80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Urban GDP Share Estimation  |  2020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880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987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steps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329184" cy="32918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" y="134416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Reproject all rasters to EPSG:4326, 1 km grid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819656"/>
            <a:ext cx="329184" cy="32918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68096" y="1837944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Cloud/aurora mask using VIIRS cf_cvg band (&gt;30% clear)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313432"/>
            <a:ext cx="329184" cy="32918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13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68096" y="233172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Radiance threshold: drop pixels &lt; 0.5 nW/cm²/sr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807208"/>
            <a:ext cx="329184" cy="32918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8096" y="2825496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WorldCover resampled to 1 km (mode); reclassified 0–3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300984"/>
            <a:ext cx="329184" cy="32918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68096" y="331927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UCDB filtered to population ≥ 50,000 (13,135 centres)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794760"/>
            <a:ext cx="329184" cy="32918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8096" y="381304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Zonal stats computed per city polygon from all rasters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0" y="9875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groups (20 total — no GDP leakage)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1325880"/>
            <a:ext cx="42976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1325880"/>
            <a:ext cx="54864" cy="7498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137160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NTL radiance (6)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00016" y="1655064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NTL mean · log(NTL) · NTL² · NTL/km² · NTL×log(pop) · NTL×built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2194560"/>
            <a:ext cx="42976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2194560"/>
            <a:ext cx="54864" cy="749808"/>
          </a:xfrm>
          <a:prstGeom prst="rect">
            <a:avLst/>
          </a:prstGeom>
          <a:solidFill>
            <a:srgbClr val="3B9CC4"/>
          </a:solidFill>
          <a:ln w="12700">
            <a:solidFill>
              <a:srgbClr val="3B9C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0016" y="224028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(5)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00016" y="2523744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2015 · log(pop) · density · log(density) · built/capita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0" y="3063240"/>
            <a:ext cx="42976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0" y="3063240"/>
            <a:ext cx="54864" cy="749808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0016" y="310896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 (6)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00016" y="3392424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km² · log(area) · built share · log(built) · built growth · pop growth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0" y="3931920"/>
            <a:ext cx="42976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72000" y="3931920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0016" y="397764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(3)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00016" y="4261104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ISO3 country encoding · World region encoding · built-up growth 2000–2015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GDP-derived variable enters the model as a feature — GDP per capita, lit-population intensity, and GDP growth rates are excluded to prevent circular prediction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&amp; Validation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against GHS-UCDB observed GDP15_SM · External comparison for four data-rich countries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59536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80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Urban GDP Share Estimation  |  2020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880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987552"/>
            <a:ext cx="1920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987552"/>
            <a:ext cx="54864" cy="8046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0789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93776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R² (log GDP scale)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23160" y="987552"/>
            <a:ext cx="1920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23160" y="987552"/>
            <a:ext cx="54864" cy="804672"/>
          </a:xfrm>
          <a:prstGeom prst="rect">
            <a:avLst/>
          </a:prstGeom>
          <a:solidFill>
            <a:srgbClr val="3B9CC4"/>
          </a:solidFill>
          <a:ln w="12700">
            <a:solidFill>
              <a:srgbClr val="3B9C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51176" y="10789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B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551176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In-sample R²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987552"/>
            <a:ext cx="1920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80560" y="987552"/>
            <a:ext cx="54864" cy="80467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8576" y="10789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08576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σ (log scale)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37960" y="987552"/>
            <a:ext cx="1920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37960" y="987552"/>
            <a:ext cx="54864" cy="8046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65976" y="10789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12,818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665976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cities globally</a:t>
            </a:r>
            <a:endParaRPr lang="en-US" sz="10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365760" y="1920240"/>
          <a:ext cx="4937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5486400" y="1901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(countries with official data)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0" y="2267712"/>
            <a:ext cx="338328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486400" y="2267712"/>
            <a:ext cx="54864" cy="4937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96128" y="2295144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(Eurostat NUTS-1)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596128" y="2523744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0.91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486400" y="2834640"/>
            <a:ext cx="338328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486400" y="2834640"/>
            <a:ext cx="54864" cy="493776"/>
          </a:xfrm>
          <a:prstGeom prst="rect">
            <a:avLst/>
          </a:prstGeom>
          <a:solidFill>
            <a:srgbClr val="3B9CC4"/>
          </a:solidFill>
          <a:ln w="12700">
            <a:solidFill>
              <a:srgbClr val="3B9C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596128" y="2862072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(BEA state level)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596128" y="309067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0.88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486400" y="3401568"/>
            <a:ext cx="338328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486400" y="3401568"/>
            <a:ext cx="54864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596128" y="3429000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(MoSPI state level)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596128" y="365760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0.83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486400" y="3968496"/>
            <a:ext cx="338328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486400" y="3968496"/>
            <a:ext cx="54864" cy="493776"/>
          </a:xfrm>
          <a:prstGeom prst="rect">
            <a:avLst/>
          </a:prstGeom>
          <a:solidFill>
            <a:srgbClr val="E05B4B"/>
          </a:solidFill>
          <a:ln w="12700">
            <a:solidFill>
              <a:srgbClr val="E05B4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596128" y="3995928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(NBS)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5596128" y="422452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0.68  — gas flare &amp; informal economy bias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486400" y="4572000"/>
            <a:ext cx="3383280" cy="329184"/>
          </a:xfrm>
          <a:prstGeom prst="rect">
            <a:avLst/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559552" y="457200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GDP15_SM in UCDB is itself modelled — external comparison against published subnational stats is the stronger test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Urban GDP Statistics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countries · 12,818 cities · 2020 estimates anchored to World Bank national GDP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59536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80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Urban GDP Share Estimation  |  2020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880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987552"/>
            <a:ext cx="1920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987552"/>
            <a:ext cx="54864" cy="8046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0789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93776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analysed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23160" y="987552"/>
            <a:ext cx="1920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23160" y="987552"/>
            <a:ext cx="54864" cy="804672"/>
          </a:xfrm>
          <a:prstGeom prst="rect">
            <a:avLst/>
          </a:prstGeom>
          <a:solidFill>
            <a:srgbClr val="3B9CC4"/>
          </a:solidFill>
          <a:ln w="12700">
            <a:solidFill>
              <a:srgbClr val="3B9C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51176" y="10789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B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12,818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551176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centres modelled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987552"/>
            <a:ext cx="1920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80560" y="987552"/>
            <a:ext cx="54864" cy="80467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8576" y="10789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56.7%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08576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mean urban GDP share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37960" y="987552"/>
            <a:ext cx="1920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37960" y="987552"/>
            <a:ext cx="54864" cy="8046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65976" y="10789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$39.2T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665976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global urban GDP 2020</a:t>
            </a:r>
            <a:endParaRPr lang="en-US" sz="10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365760" y="1920240"/>
          <a:ext cx="53035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5852160" y="1901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852160" y="2267712"/>
            <a:ext cx="54864" cy="329184"/>
          </a:xfrm>
          <a:prstGeom prst="rect">
            <a:avLst/>
          </a:prstGeom>
          <a:solidFill>
            <a:srgbClr val="E05B4B"/>
          </a:solidFill>
          <a:ln w="12700">
            <a:solidFill>
              <a:srgbClr val="E05B4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80176" y="2267712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countries above 80%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980176" y="2450592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primate urban economies — Asia &amp; Middle East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852160" y="2660904"/>
            <a:ext cx="54864" cy="329184"/>
          </a:xfrm>
          <a:prstGeom prst="rect">
            <a:avLst/>
          </a:prstGeom>
          <a:solidFill>
            <a:srgbClr val="3B9CC4"/>
          </a:solidFill>
          <a:ln w="12700">
            <a:solidFill>
              <a:srgbClr val="3B9C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80176" y="2660904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countries below 30%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980176" y="2843784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Polycentric or rural-dominant geographies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852160" y="3054096"/>
            <a:ext cx="54864" cy="32918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80176" y="3054096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75.6% — highest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980176" y="3236976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East/SE Asian megacity concentration dominates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5852160" y="3447288"/>
            <a:ext cx="54864" cy="329184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980176" y="3447288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31.7% — lowest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980176" y="3630168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polycentric regional policy outcomes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5852160" y="3840480"/>
            <a:ext cx="54864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980176" y="3840480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53.5% — above median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980176" y="4023360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urbanisation; informal economy constrains NTL signal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5852160" y="4233672"/>
            <a:ext cx="54864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980176" y="4233672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σ = 30.6%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5980176" y="4416552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variance — one global average masks structural diversity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Urban GDP Shares — Selected Countries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Finland 9.9% to Bangladesh/Angola 98% — structural economic geography in one metric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59536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80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Urban GDP Share Estimation  |  2020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880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" y="987552"/>
          <a:ext cx="84124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4507992"/>
            <a:ext cx="8412480" cy="384048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5079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47.5% = mid-range for Africa · Germany 17.8% reflects polycentric regional policy · Nigeria 94% = Lagos-dominated despite large rural population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4928616"/>
            <a:ext cx="146304" cy="146304"/>
          </a:xfrm>
          <a:prstGeom prst="rect">
            <a:avLst/>
          </a:prstGeom>
          <a:solidFill>
            <a:srgbClr val="3B9CC4"/>
          </a:solidFill>
          <a:ln w="12700">
            <a:solidFill>
              <a:srgbClr val="3B9C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492861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377440" y="4928616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60320" y="492861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(mid)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389120" y="4928616"/>
            <a:ext cx="146304" cy="146304"/>
          </a:xfrm>
          <a:prstGeom prst="rect">
            <a:avLst/>
          </a:prstGeom>
          <a:solidFill>
            <a:srgbClr val="E05B4B"/>
          </a:solidFill>
          <a:ln w="12700">
            <a:solidFill>
              <a:srgbClr val="E05B4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0" y="492861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concentration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&amp; Secondary Cities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predicted GDP — not population. GDP primacy ≠ demographic primacy in many countries.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59536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80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Urban GDP Share Estimation  |  2020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880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9264"/>
          <a:ext cx="8412480" cy="3611880"/>
        </p:xfrm>
        <a:graphic>
          <a:graphicData uri="http://schemas.openxmlformats.org/drawingml/2006/table">
            <a:tbl>
              <a:tblPr/>
              <a:tblGrid>
                <a:gridCol w="1371600"/>
                <a:gridCol w="1481328"/>
                <a:gridCol w="877824"/>
                <a:gridCol w="1627632"/>
                <a:gridCol w="877824"/>
                <a:gridCol w="1042416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Primary city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GDP share 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Secondary city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GDP share 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Urban share 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Thailand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</a:rPr>
                        <a:t>Bangkok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82.5%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Chonburi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1.9%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05B4B"/>
                          </a:solidFill>
                        </a:rPr>
                        <a:t>82.7%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Philippines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</a:rPr>
                        <a:t>Manila Metro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62.1%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Cebu City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3.7%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05B4B"/>
                          </a:solidFill>
                        </a:rPr>
                        <a:t>85.5%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Kenya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</a:rPr>
                        <a:t>Nairobi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29.5%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Mombasa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7.1%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47.5%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Nigeria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</a:rPr>
                        <a:t>Lagos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26.1%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Onitsha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4.7%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05B4B"/>
                          </a:solidFill>
                        </a:rPr>
                        <a:t>94.0%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S. Africa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</a:rPr>
                        <a:t>Johannesburg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25.2%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Cape Town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7.8%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60.4%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Tanzania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</a:rPr>
                        <a:t>Dar es Salaam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39.6%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Mwanza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3.3%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64.8%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Ethiopia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</a:rPr>
                        <a:t>Addis Ababa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10.7%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Adama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0.8%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38.1%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Germany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</a:rPr>
                        <a:t>Dortmund/Ruhr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2.6%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Berlin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1.8%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9CC4"/>
                          </a:solidFill>
                        </a:rPr>
                        <a:t>17.8%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Japan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</a:rPr>
                        <a:t>Tokyo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14.9%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Osaka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13.3%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</a:rPr>
                        <a:t>49.9%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Brazil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</a:rPr>
                        <a:t>São Paulo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23.8%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Rio de Janeiro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15.5%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05B4B"/>
                          </a:solidFill>
                        </a:rPr>
                        <a:t>98.0%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65760" y="46634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share colour: 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737360" y="4681728"/>
            <a:ext cx="128016" cy="146304"/>
          </a:xfrm>
          <a:prstGeom prst="rect">
            <a:avLst/>
          </a:prstGeom>
          <a:solidFill>
            <a:srgbClr val="3B9CC4"/>
          </a:solidFill>
          <a:ln w="12700">
            <a:solidFill>
              <a:srgbClr val="3B9C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01952" y="4663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Polycentric / Low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023360" y="4681728"/>
            <a:ext cx="128016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87952" y="4663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309360" y="4681728"/>
            <a:ext cx="128016" cy="146304"/>
          </a:xfrm>
          <a:prstGeom prst="rect">
            <a:avLst/>
          </a:prstGeom>
          <a:solidFill>
            <a:srgbClr val="E05B4B"/>
          </a:solidFill>
          <a:ln w="12700">
            <a:solidFill>
              <a:srgbClr val="E05B4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73952" y="4663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concentration / Primate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Cities by Estimated GDP (2020)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megacities dominate — Tokyo $757 bn, Osaka $672 bn, Seoul $577 bn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59536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80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Urban GDP Share Estimation  |  2020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880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" y="969264"/>
          <a:ext cx="84124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4617720"/>
            <a:ext cx="146304" cy="146304"/>
          </a:xfrm>
          <a:prstGeom prst="rect">
            <a:avLst/>
          </a:prstGeom>
          <a:solidFill>
            <a:srgbClr val="E05B4B"/>
          </a:solidFill>
          <a:ln w="12700">
            <a:solidFill>
              <a:srgbClr val="E05B4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45994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057400" y="4617720"/>
            <a:ext cx="146304" cy="146304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40280" y="45994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America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749040" y="4617720"/>
            <a:ext cx="146304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31920" y="45994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Lat. America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440680" y="4617720"/>
            <a:ext cx="146304" cy="146304"/>
          </a:xfrm>
          <a:prstGeom prst="rect">
            <a:avLst/>
          </a:prstGeom>
          <a:solidFill>
            <a:srgbClr val="3B9CC4"/>
          </a:solidFill>
          <a:ln w="12700">
            <a:solidFill>
              <a:srgbClr val="3B9C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23560" y="45994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132320" y="4617720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0" y="45994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African city appears in the top 20 — reflecting lower GDP per capita despite rapid urbanisation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Focus: Eastern &amp; Southern Africa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47.5% — mid-range · below Tanzania (64.8%) and Angola (98%) · above Uganda (22.5%)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59536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80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Urban GDP Share Estimation  |  2020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880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" y="969264"/>
          <a:ext cx="585216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400800" y="969264"/>
            <a:ext cx="2468880" cy="37947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969264"/>
            <a:ext cx="2468880" cy="54864"/>
          </a:xfrm>
          <a:prstGeom prst="rect">
            <a:avLst/>
          </a:prstGeom>
          <a:solidFill>
            <a:srgbClr val="E05B4B"/>
          </a:solidFill>
          <a:ln w="12700">
            <a:solidFill>
              <a:srgbClr val="E05B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55664" y="104241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deep-dive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73952" y="14081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GDP share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827264" y="1408176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47.5%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73952" y="1737360"/>
            <a:ext cx="232257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73952" y="17830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Nairobi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827264" y="1783080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29.5% of nat. GDP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73952" y="2112264"/>
            <a:ext cx="232257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73952" y="21579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Mombasa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827264" y="2157984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7.1% of nat. GDP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473952" y="2487168"/>
            <a:ext cx="232257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73952" y="25328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cities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827264" y="2532888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~11% combined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473952" y="2862072"/>
            <a:ext cx="232257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73952" y="290779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GDP 2020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827264" y="2907792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$101 billion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473952" y="3236976"/>
            <a:ext cx="232257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73952" y="32826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GDP est.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827264" y="3282696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~$48 billion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473952" y="3611880"/>
            <a:ext cx="232257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73952" y="3657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mean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827264" y="3657600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53.5%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473952" y="3986784"/>
            <a:ext cx="232257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73952" y="40325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mean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827264" y="4032504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56.7%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365760" y="4828032"/>
            <a:ext cx="5852160" cy="201168"/>
          </a:xfrm>
          <a:prstGeom prst="rect">
            <a:avLst/>
          </a:prstGeom>
          <a:solidFill>
            <a:srgbClr val="EFF6FF"/>
          </a:solidFill>
          <a:ln w="8890">
            <a:solidFill>
              <a:srgbClr val="BFDBF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7200" y="4828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tiers: High ≥80% (Angola, Zambia) · Mid 40–70% (Kenya, Tanzania, S. Africa) · Lower &lt;30% (Uganda, Rwanda, Malawi)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Strengths, Limitations &amp; Mitigations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trade-offs — the method is good enough for strategic planning, not a substitute for official statistics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59536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80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Urban GDP Share Estimation  |  2020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880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969264"/>
            <a:ext cx="4069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969264"/>
            <a:ext cx="4069080" cy="42062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9875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49961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consistent — identical methodology, 170 countries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 updatable — new VIIRS composite each year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15798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census or subnational data required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48716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built-up morphology beyond raw radiance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8163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Python pipeline — fully reproducible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14553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GDP-ranked city primacy distinguishes economic from demographic concentration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969264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969264"/>
            <a:ext cx="4114800" cy="420624"/>
          </a:xfrm>
          <a:prstGeom prst="rect">
            <a:avLst/>
          </a:prstGeom>
          <a:solidFill>
            <a:srgbClr val="E05B4B"/>
          </a:solidFill>
          <a:ln w="12700">
            <a:solidFill>
              <a:srgbClr val="E05B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9875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mitigations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1499616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0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NTL saturation in megacity cores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19472" y="1737360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Built-up area as complementary feature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0" y="1993392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0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Blooming inflates peri-urban NTL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19472" y="2231136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UCDB polygon masking to city boundary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2487168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0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economy undercount (SSA)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19472" y="2724912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GDP15_SM anchor; external R² still 0.68 for NGA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0" y="2980944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0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flare contamination (NGA, IDN)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19472" y="3218688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WorldCover industrial class downweighting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0" y="3474720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0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2015→2020 GDP projection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19472" y="3712464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Country-level growth factors; 2023 update feasible via GEE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3968496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0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cap artefact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19472" y="4206240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Flagged in outputs; subnational data recommended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Implications for UN-Habitat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actionable applications — from SDG monitoring to parametric disaster insurance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59536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80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Urban GDP Share Estimation  |  2020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880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969264"/>
            <a:ext cx="8412480" cy="658368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058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 SDG 11.a.1: 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996696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2020 revision redefined 11.a.1 as a governance quality indicator (does a country have a national urban policy meeting three criteria?) not an economic output metric. This analysis supports 11.a.1 indirectly — providing the city GDP evidence base that national urban policies require, rather than measuring the indicator directly.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773936"/>
            <a:ext cx="416052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773936"/>
            <a:ext cx="54864" cy="13716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184708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6112" y="184708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11.a.1 evidence base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3776" y="2231136"/>
            <a:ext cx="3913632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2304288"/>
            <a:ext cx="3913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rankings identify secondary cities economically significant enough for national policy frameworks. A policy covering only the primate city fails the balanced territorial development criterion. Comparable across 170 countries simultaneously.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1773936"/>
            <a:ext cx="416052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773936"/>
            <a:ext cx="54864" cy="1371600"/>
          </a:xfrm>
          <a:prstGeom prst="rect">
            <a:avLst/>
          </a:prstGeom>
          <a:solidFill>
            <a:srgbClr val="3B9CC4"/>
          </a:solidFill>
          <a:ln w="12700">
            <a:solidFill>
              <a:srgbClr val="3B9C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37176" y="184708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39512" y="184708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risk finance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37176" y="2231136"/>
            <a:ext cx="3913632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37176" y="2304288"/>
            <a:ext cx="3913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GDP estimates are the economic exposure baseline for parametric insurance. An earthquake above a PGA threshold in Nairobi ($30 bn urban GDP) triggers loss calculations immediately — no post-event survey required.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282696"/>
            <a:ext cx="416052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282696"/>
            <a:ext cx="54864" cy="137160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" y="335584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6112" y="33558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Cross-country benchmarking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3776" y="3739896"/>
            <a:ext cx="3913632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" y="3813048"/>
            <a:ext cx="3913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(47.5%) benchmarked against Tanzania (64.8%), Addis Ababa (38.1%), Accra (53.7%). Comparable methodology enables peer learning between cities with similar economic structures but different policy environments.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3282696"/>
            <a:ext cx="416052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282696"/>
            <a:ext cx="54864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37176" y="335584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39512" y="33558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economic shock tracking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37176" y="3739896"/>
            <a:ext cx="3913632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37176" y="3813048"/>
            <a:ext cx="3913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VIIRS updates each year. Urban economic shifts after COVID, conflict (Ukraine, Sudan), or climate shocks can be tracked without waiting for a new census cycle — near-real-time intelligence at city scale.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&amp; Open Data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reproducible in &lt;24 hours on any laptop with conda — five output tables, four 300 DPI figures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59536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80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Urban GDP Share Estimation  |  2020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880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9692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scripts &amp; outputs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316736"/>
            <a:ext cx="2011680" cy="34747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316736"/>
            <a:ext cx="1938528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urban_gdp_v3.py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450592" y="1353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model · GDP allocation · urban shares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2011680" cy="34747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1792224"/>
            <a:ext cx="1938528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finalise_results.py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50592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 anchor fill · 170-country final CSV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67712"/>
            <a:ext cx="2011680" cy="34747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267712"/>
            <a:ext cx="1938528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make_maps.py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50592" y="23042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300 DPI figures (global, Africa, scatter, bar)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2011680" cy="34747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743200"/>
            <a:ext cx="1938528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TABLE1–5 (.csv)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50592" y="27797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city, regional, Africa, E. Africa tables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218688"/>
            <a:ext cx="2011680" cy="34747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3218688"/>
            <a:ext cx="1938528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city_gdp_estimates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450592" y="3255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12,818 cities · GDP in USD · NTL · pop · area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694176"/>
            <a:ext cx="2011680" cy="34747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3694176"/>
            <a:ext cx="1938528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GHS_UCDB_2019.gpkg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450592" y="3730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centre polygons with all attributes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224528"/>
            <a:ext cx="1005840" cy="5029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22452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[QR Code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Repository]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444752" y="42793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9C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github.com/[your-repo]/urban-gdp-ntl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77840" y="9692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access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77840" y="1316736"/>
            <a:ext cx="54864" cy="42062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05856" y="133502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GHS-UCDB R2019A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05856" y="1536192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data.jrc.ec.europa.eu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577840" y="1810512"/>
            <a:ext cx="54864" cy="42062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05856" y="18288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GHS-POP R2023A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05856" y="2029968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human-settlement.emergency.copernicus.eu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77840" y="2304288"/>
            <a:ext cx="54864" cy="42062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05856" y="232257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VIIRS NTL V2.2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705856" y="2523744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eogdata.mines.edu  (free account)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577840" y="2798064"/>
            <a:ext cx="54864" cy="42062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05856" y="281635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WorldCover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05856" y="3017520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worldcover2021.esa.int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577840" y="3291840"/>
            <a:ext cx="54864" cy="42062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05856" y="3310128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GDP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705856" y="3511296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data.worldbank.org/indicator/NY.GDP.MKTP.CD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577840" y="3785616"/>
            <a:ext cx="54864" cy="42062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05856" y="380390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Earth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05856" y="4005072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naturalearthdata.com  (boundaries)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577840" y="4206240"/>
            <a:ext cx="3291840" cy="548640"/>
          </a:xfrm>
          <a:prstGeom prst="rect">
            <a:avLst/>
          </a:prstGeom>
          <a:solidFill>
            <a:srgbClr val="1E293B"/>
          </a:solidFill>
          <a:ln w="10160">
            <a:solidFill>
              <a:srgbClr val="0E7C7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50992" y="4206240"/>
            <a:ext cx="3145536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E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activate urban_gdp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7EE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urban_gdp_v3.py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working paper to operational UN-Habitat product — three proposed extensions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59536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80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Urban GDP Share Estimation  |  2020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880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969264"/>
            <a:ext cx="8412480" cy="53035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969264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countries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024128"/>
            <a:ext cx="0" cy="420624"/>
          </a:xfrm>
          <a:prstGeom prst="line">
            <a:avLst/>
          </a:prstGeom>
          <a:noFill/>
          <a:ln w="508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969264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12,818 cities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7560" y="1024128"/>
            <a:ext cx="0" cy="420624"/>
          </a:xfrm>
          <a:prstGeom prst="line">
            <a:avLst/>
          </a:prstGeom>
          <a:noFill/>
          <a:ln w="508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969264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56.7% mean urban share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024128"/>
            <a:ext cx="0" cy="420624"/>
          </a:xfrm>
          <a:prstGeom prst="line">
            <a:avLst/>
          </a:prstGeom>
          <a:noFill/>
          <a:ln w="508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969264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$39.2T urban GDP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72200" y="1024128"/>
            <a:ext cx="0" cy="420624"/>
          </a:xfrm>
          <a:prstGeom prst="line">
            <a:avLst/>
          </a:prstGeom>
          <a:noFill/>
          <a:ln w="508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969264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R²=0.789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89520" y="1024128"/>
            <a:ext cx="0" cy="420624"/>
          </a:xfrm>
          <a:prstGeom prst="line">
            <a:avLst/>
          </a:prstGeom>
          <a:noFill/>
          <a:ln w="508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969264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tables · 4 figures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1664208"/>
            <a:ext cx="274320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1664208"/>
            <a:ext cx="27432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81328" y="1773936"/>
            <a:ext cx="512064" cy="512064"/>
          </a:xfrm>
          <a:prstGeom prst="ellipse">
            <a:avLst/>
          </a:prstGeom>
          <a:solidFill>
            <a:srgbClr val="0E7C7B">
              <a:alpha val="86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81328" y="17739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" y="239572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time series (2012–2024)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3776" y="2907792"/>
            <a:ext cx="2487168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301752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pipeline annually for the full VIIRS archive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" y="3511296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13-year panel reveals structural economic shifts, recovery trajectories after crises, and consequences of rapid urbanisation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" y="400507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comparable across countries in a consistent framework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46120" y="1664208"/>
            <a:ext cx="274320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46120" y="1664208"/>
            <a:ext cx="2743200" cy="54864"/>
          </a:xfrm>
          <a:prstGeom prst="rect">
            <a:avLst/>
          </a:prstGeom>
          <a:solidFill>
            <a:srgbClr val="3B9CC4"/>
          </a:solidFill>
          <a:ln w="12700">
            <a:solidFill>
              <a:srgbClr val="3B9C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61688" y="1773936"/>
            <a:ext cx="512064" cy="512064"/>
          </a:xfrm>
          <a:prstGeom prst="ellipse">
            <a:avLst/>
          </a:prstGeom>
          <a:solidFill>
            <a:srgbClr val="3B9CC4">
              <a:alpha val="86000"/>
            </a:srgbClr>
          </a:solidFill>
          <a:ln w="12700">
            <a:solidFill>
              <a:srgbClr val="3B9C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61688" y="17739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55848" y="239572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poverty &amp; inequality maps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74136" y="2907792"/>
            <a:ext cx="2487168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74136" y="301752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city GDP with gridded poverty maps (World Bank PSME, OPHI)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74136" y="3511296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city-level GDP per capita and urban–rural income gap calculation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74136" y="400507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relevant to SDG 1, SDG 10, and SDG 11 simultaneously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26480" y="1664208"/>
            <a:ext cx="274320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1664208"/>
            <a:ext cx="2743200" cy="54864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42048" y="1773936"/>
            <a:ext cx="512064" cy="512064"/>
          </a:xfrm>
          <a:prstGeom prst="ellipse">
            <a:avLst/>
          </a:prstGeom>
          <a:solidFill>
            <a:srgbClr val="0D2B4E">
              <a:alpha val="86000"/>
            </a:srgbClr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42048" y="17739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36208" y="239572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Co-design with national statistical offices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54496" y="2907792"/>
            <a:ext cx="2487168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54496" y="301752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In-country validation with Kenya KNBS, Tanzania NBS, Ghana GSS, Ethiopia CSA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54496" y="3511296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 estimates against unpublished administrative data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54496" y="400507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Country-specific recalibration substantially improves local accuracy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65760" y="47823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open-source and reproducible — any partner statistical office or UN programme can apply it to their country within 24 hours.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135331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1883664"/>
            <a:ext cx="4572000" cy="0"/>
          </a:xfrm>
          <a:prstGeom prst="line">
            <a:avLst/>
          </a:prstGeom>
          <a:noFill/>
          <a:ln w="762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848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20848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4323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4323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Nairobi, Dept. Earth &amp; Climate Sciences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7797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77977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[your.email@uonbi.ac.ke]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31272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github.com/[your-repo]/urban-gdp-ntl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474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34747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457200"/>
            <a:ext cx="3108960" cy="3858768"/>
          </a:xfrm>
          <a:prstGeom prst="rect">
            <a:avLst/>
          </a:prstGeom>
          <a:solidFill>
            <a:srgbClr val="1D9E9D">
              <a:alpha val="15000"/>
            </a:srgbClr>
          </a:solidFill>
          <a:ln w="1016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548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at a glance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06440" y="950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806440" y="11430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806440" y="133502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12,818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806440" y="152704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centres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806440" y="17190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56.7%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806440" y="191109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urban GDP share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06440" y="21031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$39.2T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806440" y="229514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urban GDP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806440" y="24871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0.789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806440" y="267919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CV R²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806440" y="28712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806440" y="306324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dissertation tables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806440" y="32552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806440" y="344728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figures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806440" y="363931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5806440" y="383133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slides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0040" y="446227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June 2026  |  Urban GDP Share Estimation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Estimating the Contribution of Cities to National GDP: A Nighttime Lights Approach</dc:title>
  <dc:subject>PptxGenJS Presentation</dc:subject>
  <dc:creator>University of Nairobi</dc:creator>
  <cp:lastModifiedBy>University of Nairobi</cp:lastModifiedBy>
  <cp:revision>1</cp:revision>
  <dcterms:created xsi:type="dcterms:W3CDTF">2026-06-06T21:03:27Z</dcterms:created>
  <dcterms:modified xsi:type="dcterms:W3CDTF">2026-06-06T21:03:27Z</dcterms:modified>
</cp:coreProperties>
</file>